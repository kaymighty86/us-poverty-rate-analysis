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1510"/>
    <a:srgbClr val="084F6A"/>
    <a:srgbClr val="0C386E"/>
    <a:srgbClr val="000000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8" d="100"/>
          <a:sy n="38" d="100"/>
        </p:scale>
        <p:origin x="9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7802" y="2244726"/>
            <a:ext cx="18286810" cy="4775200"/>
          </a:xfrm>
        </p:spPr>
        <p:txBody>
          <a:bodyPr anchor="b"/>
          <a:lstStyle>
            <a:lvl1pPr algn="ctr">
              <a:defRPr sz="1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7802" y="7204076"/>
            <a:ext cx="1828681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D1EF-9C0E-4541-9DB2-E78704F132F5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4AC74-EED6-4E19-BBEA-2F9CC117C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933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D1EF-9C0E-4541-9DB2-E78704F132F5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4AC74-EED6-4E19-BBEA-2F9CC117C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914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592" y="3419477"/>
            <a:ext cx="21029831" cy="5705474"/>
          </a:xfrm>
        </p:spPr>
        <p:txBody>
          <a:bodyPr anchor="b"/>
          <a:lstStyle>
            <a:lvl1pPr>
              <a:defRPr sz="1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592" y="9178927"/>
            <a:ext cx="21029831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D1EF-9C0E-4541-9DB2-E78704F132F5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4AC74-EED6-4E19-BBEA-2F9CC117C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585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291" y="3651250"/>
            <a:ext cx="10362526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3596" y="3651250"/>
            <a:ext cx="10362526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D1EF-9C0E-4541-9DB2-E78704F132F5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4AC74-EED6-4E19-BBEA-2F9CC117C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783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7" y="730251"/>
            <a:ext cx="21029831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467" y="3362326"/>
            <a:ext cx="10314903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54" indent="0">
              <a:buNone/>
              <a:defRPr sz="4000" b="1"/>
            </a:lvl2pPr>
            <a:lvl3pPr marL="1828709" indent="0">
              <a:buNone/>
              <a:defRPr sz="3600" b="1"/>
            </a:lvl3pPr>
            <a:lvl4pPr marL="2743063" indent="0">
              <a:buNone/>
              <a:defRPr sz="3200" b="1"/>
            </a:lvl4pPr>
            <a:lvl5pPr marL="3657417" indent="0">
              <a:buNone/>
              <a:defRPr sz="3200" b="1"/>
            </a:lvl5pPr>
            <a:lvl6pPr marL="4571771" indent="0">
              <a:buNone/>
              <a:defRPr sz="3200" b="1"/>
            </a:lvl6pPr>
            <a:lvl7pPr marL="5486126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4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467" y="5010150"/>
            <a:ext cx="10314903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3597" y="3362326"/>
            <a:ext cx="10365701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54" indent="0">
              <a:buNone/>
              <a:defRPr sz="4000" b="1"/>
            </a:lvl2pPr>
            <a:lvl3pPr marL="1828709" indent="0">
              <a:buNone/>
              <a:defRPr sz="3600" b="1"/>
            </a:lvl3pPr>
            <a:lvl4pPr marL="2743063" indent="0">
              <a:buNone/>
              <a:defRPr sz="3200" b="1"/>
            </a:lvl4pPr>
            <a:lvl5pPr marL="3657417" indent="0">
              <a:buNone/>
              <a:defRPr sz="3200" b="1"/>
            </a:lvl5pPr>
            <a:lvl6pPr marL="4571771" indent="0">
              <a:buNone/>
              <a:defRPr sz="3200" b="1"/>
            </a:lvl6pPr>
            <a:lvl7pPr marL="5486126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4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3597" y="5010150"/>
            <a:ext cx="10365701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D1EF-9C0E-4541-9DB2-E78704F132F5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4AC74-EED6-4E19-BBEA-2F9CC117C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020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D1EF-9C0E-4541-9DB2-E78704F132F5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4AC74-EED6-4E19-BBEA-2F9CC117C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531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D1EF-9C0E-4541-9DB2-E78704F132F5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4AC74-EED6-4E19-BBEA-2F9CC117C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57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8" y="914400"/>
            <a:ext cx="7863962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5701" y="1974851"/>
            <a:ext cx="12343597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468" y="4114800"/>
            <a:ext cx="7863962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354" indent="0">
              <a:buNone/>
              <a:defRPr sz="2800"/>
            </a:lvl2pPr>
            <a:lvl3pPr marL="1828709" indent="0">
              <a:buNone/>
              <a:defRPr sz="2400"/>
            </a:lvl3pPr>
            <a:lvl4pPr marL="2743063" indent="0">
              <a:buNone/>
              <a:defRPr sz="2000"/>
            </a:lvl4pPr>
            <a:lvl5pPr marL="3657417" indent="0">
              <a:buNone/>
              <a:defRPr sz="2000"/>
            </a:lvl5pPr>
            <a:lvl6pPr marL="4571771" indent="0">
              <a:buNone/>
              <a:defRPr sz="2000"/>
            </a:lvl6pPr>
            <a:lvl7pPr marL="5486126" indent="0">
              <a:buNone/>
              <a:defRPr sz="2000"/>
            </a:lvl7pPr>
            <a:lvl8pPr marL="6400480" indent="0">
              <a:buNone/>
              <a:defRPr sz="2000"/>
            </a:lvl8pPr>
            <a:lvl9pPr marL="7314834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D1EF-9C0E-4541-9DB2-E78704F132F5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4AC74-EED6-4E19-BBEA-2F9CC117C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14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8" y="914400"/>
            <a:ext cx="7863962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5701" y="1974851"/>
            <a:ext cx="12343597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354" indent="0">
              <a:buNone/>
              <a:defRPr sz="5600"/>
            </a:lvl2pPr>
            <a:lvl3pPr marL="1828709" indent="0">
              <a:buNone/>
              <a:defRPr sz="4800"/>
            </a:lvl3pPr>
            <a:lvl4pPr marL="2743063" indent="0">
              <a:buNone/>
              <a:defRPr sz="4000"/>
            </a:lvl4pPr>
            <a:lvl5pPr marL="3657417" indent="0">
              <a:buNone/>
              <a:defRPr sz="4000"/>
            </a:lvl5pPr>
            <a:lvl6pPr marL="4571771" indent="0">
              <a:buNone/>
              <a:defRPr sz="4000"/>
            </a:lvl6pPr>
            <a:lvl7pPr marL="5486126" indent="0">
              <a:buNone/>
              <a:defRPr sz="4000"/>
            </a:lvl7pPr>
            <a:lvl8pPr marL="6400480" indent="0">
              <a:buNone/>
              <a:defRPr sz="4000"/>
            </a:lvl8pPr>
            <a:lvl9pPr marL="7314834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468" y="4114800"/>
            <a:ext cx="7863962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354" indent="0">
              <a:buNone/>
              <a:defRPr sz="2800"/>
            </a:lvl2pPr>
            <a:lvl3pPr marL="1828709" indent="0">
              <a:buNone/>
              <a:defRPr sz="2400"/>
            </a:lvl3pPr>
            <a:lvl4pPr marL="2743063" indent="0">
              <a:buNone/>
              <a:defRPr sz="2000"/>
            </a:lvl4pPr>
            <a:lvl5pPr marL="3657417" indent="0">
              <a:buNone/>
              <a:defRPr sz="2000"/>
            </a:lvl5pPr>
            <a:lvl6pPr marL="4571771" indent="0">
              <a:buNone/>
              <a:defRPr sz="2000"/>
            </a:lvl6pPr>
            <a:lvl7pPr marL="5486126" indent="0">
              <a:buNone/>
              <a:defRPr sz="2000"/>
            </a:lvl7pPr>
            <a:lvl8pPr marL="6400480" indent="0">
              <a:buNone/>
              <a:defRPr sz="2000"/>
            </a:lvl8pPr>
            <a:lvl9pPr marL="7314834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D1EF-9C0E-4541-9DB2-E78704F132F5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4AC74-EED6-4E19-BBEA-2F9CC117C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958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D1EF-9C0E-4541-9DB2-E78704F132F5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4AC74-EED6-4E19-BBEA-2F9CC117C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2150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8664" y="730250"/>
            <a:ext cx="5257458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291" y="730250"/>
            <a:ext cx="15467593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D1EF-9C0E-4541-9DB2-E78704F132F5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4AC74-EED6-4E19-BBEA-2F9CC117C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227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9D1EF-9C0E-4541-9DB2-E78704F132F5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4AC74-EED6-4E19-BBEA-2F9CC117C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897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00EBBDB-3AB2-44EB-E0DF-E94EE1C584AE}"/>
              </a:ext>
            </a:extLst>
          </p:cNvPr>
          <p:cNvSpPr/>
          <p:nvPr/>
        </p:nvSpPr>
        <p:spPr>
          <a:xfrm>
            <a:off x="1087" y="3981595"/>
            <a:ext cx="24380238" cy="97344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19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BE7850-BD95-1371-1A17-82DE633176D5}"/>
              </a:ext>
            </a:extLst>
          </p:cNvPr>
          <p:cNvSpPr/>
          <p:nvPr/>
        </p:nvSpPr>
        <p:spPr>
          <a:xfrm>
            <a:off x="1087" y="1"/>
            <a:ext cx="24380238" cy="121901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199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8E834-5111-105D-0409-5A0EB35CEBC1}"/>
              </a:ext>
            </a:extLst>
          </p:cNvPr>
          <p:cNvSpPr txBox="1"/>
          <p:nvPr/>
        </p:nvSpPr>
        <p:spPr>
          <a:xfrm>
            <a:off x="3048619" y="177088"/>
            <a:ext cx="18621469" cy="830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66" b="1" dirty="0">
                <a:solidFill>
                  <a:schemeClr val="bg1"/>
                </a:solidFill>
                <a:latin typeface="Arial Black" panose="020B0A04020102020204" pitchFamily="34" charset="0"/>
              </a:rPr>
              <a:t>EXPLORING THE SOCIO-ECONOMIC DETERMINANTS OF POVERTY ACROSS THE UNITED STATES</a:t>
            </a:r>
          </a:p>
          <a:p>
            <a:pPr algn="ctr"/>
            <a:r>
              <a:rPr lang="en-GB" sz="2133" b="1" dirty="0">
                <a:solidFill>
                  <a:schemeClr val="bg1"/>
                </a:solidFill>
              </a:rPr>
              <a:t>Poster Presentation of the Findings from the Analysis of the U.S.A National Child-care Prices Database (2018 To 2022)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00E611-46A0-4DB4-8497-7CDF882858F9}"/>
              </a:ext>
            </a:extLst>
          </p:cNvPr>
          <p:cNvSpPr/>
          <p:nvPr/>
        </p:nvSpPr>
        <p:spPr>
          <a:xfrm>
            <a:off x="1087" y="0"/>
            <a:ext cx="539562" cy="1219012"/>
          </a:xfrm>
          <a:prstGeom prst="rect">
            <a:avLst/>
          </a:prstGeom>
          <a:solidFill>
            <a:srgbClr val="EE15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199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6516EB-250C-DD32-5600-155E95F028CB}"/>
              </a:ext>
            </a:extLst>
          </p:cNvPr>
          <p:cNvSpPr/>
          <p:nvPr/>
        </p:nvSpPr>
        <p:spPr>
          <a:xfrm>
            <a:off x="23841763" y="0"/>
            <a:ext cx="539562" cy="1219012"/>
          </a:xfrm>
          <a:prstGeom prst="rect">
            <a:avLst/>
          </a:prstGeom>
          <a:solidFill>
            <a:srgbClr val="EE15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199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6E78C6-0BD0-5A14-04C1-B1CD2009FCFA}"/>
              </a:ext>
            </a:extLst>
          </p:cNvPr>
          <p:cNvSpPr/>
          <p:nvPr/>
        </p:nvSpPr>
        <p:spPr>
          <a:xfrm>
            <a:off x="540649" y="0"/>
            <a:ext cx="2354610" cy="1219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199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2502A3-5591-E945-978F-9B7DF7386A11}"/>
              </a:ext>
            </a:extLst>
          </p:cNvPr>
          <p:cNvSpPr/>
          <p:nvPr/>
        </p:nvSpPr>
        <p:spPr>
          <a:xfrm>
            <a:off x="23302201" y="0"/>
            <a:ext cx="539562" cy="1219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199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D50FD7E-4CE8-781A-AE54-87C4CDD37971}"/>
              </a:ext>
            </a:extLst>
          </p:cNvPr>
          <p:cNvCxnSpPr>
            <a:cxnSpLocks/>
          </p:cNvCxnSpPr>
          <p:nvPr/>
        </p:nvCxnSpPr>
        <p:spPr>
          <a:xfrm>
            <a:off x="122570" y="3981595"/>
            <a:ext cx="24380238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B4F211-A7C1-5D9F-1A24-0DDB4865D16D}"/>
              </a:ext>
            </a:extLst>
          </p:cNvPr>
          <p:cNvSpPr txBox="1"/>
          <p:nvPr/>
        </p:nvSpPr>
        <p:spPr>
          <a:xfrm>
            <a:off x="270870" y="1946118"/>
            <a:ext cx="5134505" cy="1815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66" dirty="0"/>
              <a:t>A multivariate data analysis of the United States of America National Database of Childcare Prices 2022 dataset to understand some key socio-economic variables and their influences on poverty rate levels across the Counties and States in the Country.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552BC4-1A5A-9A35-6B9E-240D3D578D02}"/>
              </a:ext>
            </a:extLst>
          </p:cNvPr>
          <p:cNvSpPr txBox="1"/>
          <p:nvPr/>
        </p:nvSpPr>
        <p:spPr>
          <a:xfrm>
            <a:off x="270869" y="1435977"/>
            <a:ext cx="4996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672055-5534-9738-2C34-9AABB14E816E}"/>
              </a:ext>
            </a:extLst>
          </p:cNvPr>
          <p:cNvSpPr txBox="1"/>
          <p:nvPr/>
        </p:nvSpPr>
        <p:spPr>
          <a:xfrm>
            <a:off x="5567907" y="1905484"/>
            <a:ext cx="7419878" cy="1815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17" indent="-380917" algn="just">
              <a:buFont typeface="Arial" panose="020B0604020202020204" pitchFamily="34" charset="0"/>
              <a:buChar char="•"/>
            </a:pPr>
            <a:r>
              <a:rPr lang="en-US" sz="1866" dirty="0" err="1"/>
              <a:t>Analyse</a:t>
            </a:r>
            <a:r>
              <a:rPr lang="en-US" sz="1866" dirty="0"/>
              <a:t> the US unemployment rate of males and females across 5 years (2018 to 2022).</a:t>
            </a:r>
          </a:p>
          <a:p>
            <a:pPr marL="380917" indent="-380917" algn="just">
              <a:buFont typeface="Arial" panose="020B0604020202020204" pitchFamily="34" charset="0"/>
              <a:buChar char="•"/>
            </a:pPr>
            <a:r>
              <a:rPr lang="en-US" sz="1866" dirty="0" err="1"/>
              <a:t>Analyse</a:t>
            </a:r>
            <a:r>
              <a:rPr lang="en-US" sz="1866" dirty="0"/>
              <a:t> the median household income per State against the poverty rate per State.</a:t>
            </a:r>
          </a:p>
          <a:p>
            <a:pPr marL="380917" indent="-380917" algn="just">
              <a:buFont typeface="Arial" panose="020B0604020202020204" pitchFamily="34" charset="0"/>
              <a:buChar char="•"/>
            </a:pPr>
            <a:r>
              <a:rPr lang="en-US" sz="1866" dirty="0" err="1"/>
              <a:t>Analyse</a:t>
            </a:r>
            <a:r>
              <a:rPr lang="en-US" sz="1866" dirty="0"/>
              <a:t> the proportion of single-earner households and the poverty Rates in each State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2CC81A-10D8-87D9-3D3E-711AC8632E76}"/>
              </a:ext>
            </a:extLst>
          </p:cNvPr>
          <p:cNvSpPr txBox="1"/>
          <p:nvPr/>
        </p:nvSpPr>
        <p:spPr>
          <a:xfrm>
            <a:off x="5567908" y="1435978"/>
            <a:ext cx="6807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Black" panose="020B0A04020102020204" pitchFamily="34" charset="0"/>
              </a:rPr>
              <a:t>Key Objectives of the Analysis</a:t>
            </a:r>
            <a:endParaRPr lang="en-GB" sz="2400" b="1" dirty="0"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6E8707-AE2D-2B43-AD28-D376BE69523B}"/>
              </a:ext>
            </a:extLst>
          </p:cNvPr>
          <p:cNvSpPr txBox="1"/>
          <p:nvPr/>
        </p:nvSpPr>
        <p:spPr>
          <a:xfrm>
            <a:off x="13288318" y="1803900"/>
            <a:ext cx="10971523" cy="2102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17" indent="-380917" algn="just">
              <a:buFont typeface="Arial" panose="020B0604020202020204" pitchFamily="34" charset="0"/>
              <a:buChar char="•"/>
            </a:pPr>
            <a:r>
              <a:rPr lang="en-US" sz="1866" b="1" dirty="0"/>
              <a:t>Data Collection</a:t>
            </a:r>
            <a:r>
              <a:rPr lang="en-US" sz="1866" dirty="0"/>
              <a:t>: The primary dataset used is the US National Database of Childcare Prices dataset. The U.S states’ </a:t>
            </a:r>
            <a:r>
              <a:rPr lang="en-US" sz="1866" dirty="0" err="1"/>
              <a:t>GeoJSON</a:t>
            </a:r>
            <a:r>
              <a:rPr lang="en-US" sz="1866" dirty="0"/>
              <a:t> map data and the geo-location centroids data were also gotten to aid in the </a:t>
            </a:r>
            <a:r>
              <a:rPr lang="en-US" sz="1866" dirty="0" err="1"/>
              <a:t>visualisations</a:t>
            </a:r>
            <a:r>
              <a:rPr lang="en-US" sz="1866" dirty="0"/>
              <a:t>. All the datasets are publicly available and open source.</a:t>
            </a:r>
          </a:p>
          <a:p>
            <a:pPr marL="380917" indent="-380917" algn="just">
              <a:buFont typeface="Arial" panose="020B0604020202020204" pitchFamily="34" charset="0"/>
              <a:buChar char="•"/>
            </a:pPr>
            <a:r>
              <a:rPr lang="en-US" sz="1866" b="1" dirty="0"/>
              <a:t>Data Processing: </a:t>
            </a:r>
            <a:r>
              <a:rPr lang="en-US" sz="1866" dirty="0"/>
              <a:t>The primary dataset was cleaned and processed to derive new variables that aided the analysis. The resulting dataset had 16103 rows and 15 columns.</a:t>
            </a:r>
          </a:p>
          <a:p>
            <a:pPr marL="380917" indent="-380917" algn="just">
              <a:buFont typeface="Arial" panose="020B0604020202020204" pitchFamily="34" charset="0"/>
              <a:buChar char="•"/>
            </a:pPr>
            <a:r>
              <a:rPr lang="en-US" sz="1866" b="1" dirty="0"/>
              <a:t>Data </a:t>
            </a:r>
            <a:r>
              <a:rPr lang="en-US" sz="1866" b="1" dirty="0" err="1"/>
              <a:t>Visualisation</a:t>
            </a:r>
            <a:r>
              <a:rPr lang="en-US" sz="1866" b="1" dirty="0"/>
              <a:t> and Analysis: </a:t>
            </a:r>
            <a:r>
              <a:rPr lang="en-US" sz="1866" dirty="0"/>
              <a:t>Thorough analysis was performed to fulfil all the objectives and produce the outcomes detailed in this poster.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EE8E71-5600-721C-648D-E977512B102A}"/>
              </a:ext>
            </a:extLst>
          </p:cNvPr>
          <p:cNvSpPr txBox="1"/>
          <p:nvPr/>
        </p:nvSpPr>
        <p:spPr>
          <a:xfrm>
            <a:off x="13288318" y="1379168"/>
            <a:ext cx="650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Black" panose="020B0A04020102020204" pitchFamily="34" charset="0"/>
              </a:rPr>
              <a:t>Methodology</a:t>
            </a:r>
            <a:endParaRPr lang="en-GB" sz="2400" b="1" dirty="0">
              <a:latin typeface="Arial Black" panose="020B0A040201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517B58-8628-B250-6F9D-A46A46212F61}"/>
              </a:ext>
            </a:extLst>
          </p:cNvPr>
          <p:cNvSpPr/>
          <p:nvPr/>
        </p:nvSpPr>
        <p:spPr>
          <a:xfrm>
            <a:off x="21812304" y="-33188"/>
            <a:ext cx="2058242" cy="125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199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A07085D-AB14-9AEC-E49E-E31C4B684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7239" y="176278"/>
            <a:ext cx="1838071" cy="88064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F40FC08-E876-32EF-F38C-DDB5F86CFA25}"/>
              </a:ext>
            </a:extLst>
          </p:cNvPr>
          <p:cNvSpPr txBox="1"/>
          <p:nvPr/>
        </p:nvSpPr>
        <p:spPr>
          <a:xfrm>
            <a:off x="1124932" y="4121233"/>
            <a:ext cx="8225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Analysing the Annual Unemployment and Poverty Rates</a:t>
            </a:r>
            <a:endParaRPr lang="en-GB" sz="2400" b="1" dirty="0">
              <a:latin typeface="Arial Black" panose="020B0A040201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C8B5F9-4D3A-F814-BDB1-3825FE959BF5}"/>
              </a:ext>
            </a:extLst>
          </p:cNvPr>
          <p:cNvSpPr txBox="1"/>
          <p:nvPr/>
        </p:nvSpPr>
        <p:spPr>
          <a:xfrm>
            <a:off x="6969774" y="4724304"/>
            <a:ext cx="3524348" cy="4112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6" dirty="0"/>
              <a:t>There was a steady decline of average unemployment rate in the United States across both genders from 2018 to 2022 with a year-on-year decrease of -0.23%, the poverty rate also had a yearly decline rate with almost the same magnitude with a year-on-year decrease of -0.39%. The lowest being 2022 that has average poverty rate of 12.85%, male unemployment rate of 5.3% and female unemployment rate is 4.9%.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ADBB942-E874-0078-5B44-0A28BD651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81713" y="4773258"/>
            <a:ext cx="6643713" cy="5576259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45D1D13-6E39-7074-3D3F-73BF483AA420}"/>
              </a:ext>
            </a:extLst>
          </p:cNvPr>
          <p:cNvCxnSpPr>
            <a:cxnSpLocks/>
          </p:cNvCxnSpPr>
          <p:nvPr/>
        </p:nvCxnSpPr>
        <p:spPr>
          <a:xfrm>
            <a:off x="10583143" y="3981593"/>
            <a:ext cx="0" cy="9734402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B02D56D-40F8-8DEC-080F-F0844446E9C1}"/>
              </a:ext>
            </a:extLst>
          </p:cNvPr>
          <p:cNvSpPr txBox="1"/>
          <p:nvPr/>
        </p:nvSpPr>
        <p:spPr>
          <a:xfrm>
            <a:off x="10705316" y="4119146"/>
            <a:ext cx="9465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Analysing Median Household Income and Poverty Rate per State</a:t>
            </a:r>
            <a:endParaRPr lang="en-GB" sz="2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1F3E801-3409-6BD8-2481-ADFAACEF4A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4" t="6348" r="27209" b="1536"/>
          <a:stretch>
            <a:fillRect/>
          </a:stretch>
        </p:blipFill>
        <p:spPr bwMode="auto">
          <a:xfrm>
            <a:off x="17240751" y="6619791"/>
            <a:ext cx="2743483" cy="274535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5236E61-A1D5-4DCB-0FAC-0478F030DD74}"/>
              </a:ext>
            </a:extLst>
          </p:cNvPr>
          <p:cNvSpPr/>
          <p:nvPr/>
        </p:nvSpPr>
        <p:spPr>
          <a:xfrm>
            <a:off x="15526085" y="7600079"/>
            <a:ext cx="766046" cy="105670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199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7DB1B1C6-27EF-5268-FBA8-B3E5B511C566}"/>
              </a:ext>
            </a:extLst>
          </p:cNvPr>
          <p:cNvSpPr/>
          <p:nvPr/>
        </p:nvSpPr>
        <p:spPr>
          <a:xfrm>
            <a:off x="16307452" y="7674117"/>
            <a:ext cx="1380838" cy="361684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199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B82CE0-DF99-03E6-D88B-E0777CE819F3}"/>
              </a:ext>
            </a:extLst>
          </p:cNvPr>
          <p:cNvSpPr txBox="1"/>
          <p:nvPr/>
        </p:nvSpPr>
        <p:spPr>
          <a:xfrm>
            <a:off x="12955279" y="8830704"/>
            <a:ext cx="3096462" cy="769057"/>
          </a:xfrm>
          <a:prstGeom prst="rightArrowCallout">
            <a:avLst>
              <a:gd name="adj1" fmla="val 12033"/>
              <a:gd name="adj2" fmla="val 25000"/>
              <a:gd name="adj3" fmla="val 25000"/>
              <a:gd name="adj4" fmla="val 64977"/>
            </a:avLst>
          </a:prstGeom>
          <a:solidFill>
            <a:schemeClr val="tx1">
              <a:lumMod val="75000"/>
              <a:lumOff val="25000"/>
              <a:alpha val="6902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Puerto Rico</a:t>
            </a:r>
          </a:p>
          <a:p>
            <a:r>
              <a:rPr lang="en-US" sz="1066" dirty="0">
                <a:solidFill>
                  <a:schemeClr val="bg1"/>
                </a:solidFill>
              </a:rPr>
              <a:t>Poverty Rate: 43.38%</a:t>
            </a:r>
          </a:p>
          <a:p>
            <a:r>
              <a:rPr lang="en-US" sz="1066" dirty="0">
                <a:solidFill>
                  <a:schemeClr val="bg1"/>
                </a:solidFill>
              </a:rPr>
              <a:t>Median Household Income: $22,524.21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8F68287-2277-5176-03B7-9716F96B71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450" y="9739215"/>
            <a:ext cx="7715252" cy="388796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39CB3BF-B4C0-B86A-7643-B36E01750B34}"/>
              </a:ext>
            </a:extLst>
          </p:cNvPr>
          <p:cNvSpPr txBox="1"/>
          <p:nvPr/>
        </p:nvSpPr>
        <p:spPr>
          <a:xfrm>
            <a:off x="574694" y="9199210"/>
            <a:ext cx="9504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Proportion of Single-Earner Households on Poverty Rates</a:t>
            </a:r>
            <a:endParaRPr lang="en-GB" sz="2400" b="1" dirty="0">
              <a:latin typeface="Arial Black" panose="020B0A040201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C3D39E-F117-C58E-5DC1-F018EF82D196}"/>
              </a:ext>
            </a:extLst>
          </p:cNvPr>
          <p:cNvSpPr txBox="1"/>
          <p:nvPr/>
        </p:nvSpPr>
        <p:spPr>
          <a:xfrm>
            <a:off x="8005817" y="9803678"/>
            <a:ext cx="2446201" cy="382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6" dirty="0"/>
              <a:t>The combined graph indicates that poverty rates have a correlation with the proportion of single-earner households raising kids below the age of 18 across the States. Especially in Puerto-Rico where over 70% households of has only one working parent.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5351B8-6D64-650F-A9A2-8CD06353A695}"/>
              </a:ext>
            </a:extLst>
          </p:cNvPr>
          <p:cNvSpPr txBox="1"/>
          <p:nvPr/>
        </p:nvSpPr>
        <p:spPr>
          <a:xfrm>
            <a:off x="20231350" y="4665879"/>
            <a:ext cx="4033427" cy="431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3901" indent="-143901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66" dirty="0"/>
              <a:t>New Government initiatives for job creation in the States may further help improve the socio-economic state in many regions and reduce the poverty rate e.g. in Puerto Rico.</a:t>
            </a:r>
          </a:p>
          <a:p>
            <a:pPr marL="143901" indent="-143901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66" dirty="0"/>
              <a:t>Reforms in Government resource allocation may lead to better wealth distribution among the States, especially for States in the Southern region.</a:t>
            </a:r>
          </a:p>
          <a:p>
            <a:pPr marL="143901" indent="-143901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66" dirty="0"/>
              <a:t>Public awareness campaigns on the benefits of dual-earner households could help reduce poverty levels in States.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E3DADD-4431-A7DA-C63C-7C9745D76248}"/>
              </a:ext>
            </a:extLst>
          </p:cNvPr>
          <p:cNvSpPr txBox="1"/>
          <p:nvPr/>
        </p:nvSpPr>
        <p:spPr>
          <a:xfrm>
            <a:off x="20170478" y="4183219"/>
            <a:ext cx="3926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Conclusions</a:t>
            </a:r>
            <a:endParaRPr lang="en-GB" sz="2400" b="1" dirty="0">
              <a:latin typeface="Arial Black" panose="020B0A0402010202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5379BB5-D87F-B0A9-86AC-AB327E87D4F3}"/>
              </a:ext>
            </a:extLst>
          </p:cNvPr>
          <p:cNvCxnSpPr>
            <a:cxnSpLocks/>
          </p:cNvCxnSpPr>
          <p:nvPr/>
        </p:nvCxnSpPr>
        <p:spPr>
          <a:xfrm>
            <a:off x="20170477" y="3981593"/>
            <a:ext cx="0" cy="9678954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7AE6119-3032-4E36-42DC-3E4015E1B5E4}"/>
              </a:ext>
            </a:extLst>
          </p:cNvPr>
          <p:cNvSpPr txBox="1"/>
          <p:nvPr/>
        </p:nvSpPr>
        <p:spPr>
          <a:xfrm>
            <a:off x="20396735" y="9208074"/>
            <a:ext cx="3473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References</a:t>
            </a:r>
            <a:endParaRPr lang="en-GB" sz="2400" b="1" dirty="0">
              <a:latin typeface="Arial Black" panose="020B0A040201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5A1AD7-2F5F-A10A-0A49-0309C6BA9EAB}"/>
              </a:ext>
            </a:extLst>
          </p:cNvPr>
          <p:cNvSpPr txBox="1"/>
          <p:nvPr/>
        </p:nvSpPr>
        <p:spPr>
          <a:xfrm>
            <a:off x="20254737" y="9691576"/>
            <a:ext cx="4042332" cy="3681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3901" indent="-14390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66" dirty="0"/>
              <a:t>U.S. Department of Labor (2024) </a:t>
            </a:r>
            <a:r>
              <a:rPr lang="en-US" sz="1466" i="1" dirty="0"/>
              <a:t>National Database of Childcare Prices (NDCP) 2022 dataset. </a:t>
            </a:r>
            <a:r>
              <a:rPr lang="en-US" sz="1466" dirty="0"/>
              <a:t>Available at: https://www.dol.gov/sites/dolgov/files/WB/NDCP2022.xlsx (Accessed: 25 March 2026).</a:t>
            </a:r>
          </a:p>
          <a:p>
            <a:pPr marL="143901" indent="-14390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66" dirty="0" err="1"/>
              <a:t>PublicaMundi</a:t>
            </a:r>
            <a:r>
              <a:rPr lang="en-US" sz="1466" dirty="0"/>
              <a:t> (2014) </a:t>
            </a:r>
            <a:r>
              <a:rPr lang="en-US" sz="1466" i="1" dirty="0"/>
              <a:t>US States </a:t>
            </a:r>
            <a:r>
              <a:rPr lang="en-US" sz="1466" i="1" dirty="0" err="1"/>
              <a:t>GeoJSON</a:t>
            </a:r>
            <a:r>
              <a:rPr lang="en-US" sz="1466" i="1" dirty="0"/>
              <a:t> dataset.</a:t>
            </a:r>
            <a:r>
              <a:rPr lang="en-US" sz="1466" dirty="0"/>
              <a:t> Available at: https://raw.githubusercontent.com/PublicaMundi/MappingAPI/master/data/geojson/us-states.json (Accessed: 18 April 2026).</a:t>
            </a:r>
          </a:p>
          <a:p>
            <a:pPr marL="143901" indent="-14390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66" dirty="0"/>
              <a:t>Google Inc. (2024) </a:t>
            </a:r>
            <a:r>
              <a:rPr lang="en-US" sz="1466" i="1" dirty="0"/>
              <a:t>US states dataset (state.csv).</a:t>
            </a:r>
            <a:r>
              <a:rPr lang="en-US" sz="1466" dirty="0"/>
              <a:t> Available at: https://developers.google.com/public-data/docs/canonical/states_csv (Accessed: 18 April 2026).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C65E6C-D168-2B2A-6629-40CBCDCE4D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20" y="4691833"/>
            <a:ext cx="6931908" cy="42495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23630AF-4A5E-21BE-BAE7-B8C17C178D0A}"/>
              </a:ext>
            </a:extLst>
          </p:cNvPr>
          <p:cNvSpPr txBox="1"/>
          <p:nvPr/>
        </p:nvSpPr>
        <p:spPr>
          <a:xfrm>
            <a:off x="10788924" y="10540121"/>
            <a:ext cx="9226174" cy="2984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1787" indent="-141787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66" dirty="0"/>
              <a:t>The combined choropleth and bubble map </a:t>
            </a:r>
            <a:r>
              <a:rPr lang="en-US" sz="1866" dirty="0" err="1"/>
              <a:t>visualisation</a:t>
            </a:r>
            <a:r>
              <a:rPr lang="en-US" sz="1866" dirty="0"/>
              <a:t> above, shows the spread of the median household income across the states and compares them with their poverty rates. </a:t>
            </a:r>
          </a:p>
          <a:p>
            <a:pPr marL="141787" indent="-141787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66" dirty="0"/>
              <a:t>Many of the southern States in the US appears to have averagely lower median household income compared to the other regions. Same with the poverty rates.</a:t>
            </a:r>
          </a:p>
          <a:p>
            <a:pPr marL="141787" indent="-141787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66" dirty="0"/>
              <a:t>The visualization also suggest that eastern coastal States have higher median household incomes compared to other States.</a:t>
            </a:r>
          </a:p>
          <a:p>
            <a:pPr marL="141787" indent="-141787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66" dirty="0"/>
              <a:t>The State of Puerto Rico has the highest poverty rate of 43.38% and the lowest median household income of $22,524.21 in the country.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1F4CD5-1256-2CF4-7145-557FEBDD70DF}"/>
              </a:ext>
            </a:extLst>
          </p:cNvPr>
          <p:cNvSpPr txBox="1"/>
          <p:nvPr/>
        </p:nvSpPr>
        <p:spPr>
          <a:xfrm>
            <a:off x="17599622" y="6209103"/>
            <a:ext cx="2540421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66" b="1" dirty="0">
                <a:solidFill>
                  <a:schemeClr val="bg1">
                    <a:lumMod val="65000"/>
                  </a:schemeClr>
                </a:solidFill>
              </a:rPr>
              <a:t>Eastern Region</a:t>
            </a:r>
            <a:endParaRPr lang="en-GB" sz="1866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4875CE-EF34-C178-6E01-01DE952E63A8}"/>
              </a:ext>
            </a:extLst>
          </p:cNvPr>
          <p:cNvSpPr txBox="1"/>
          <p:nvPr/>
        </p:nvSpPr>
        <p:spPr>
          <a:xfrm>
            <a:off x="590462" y="566060"/>
            <a:ext cx="234992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6" b="1" dirty="0">
                <a:latin typeface="Arial Black" panose="020B0A04020102020204" pitchFamily="34" charset="0"/>
              </a:rPr>
              <a:t>250154591</a:t>
            </a:r>
            <a:endParaRPr lang="en-GB" sz="2133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DF15FF-B23E-8B13-8619-4AA72DAD5F71}"/>
              </a:ext>
            </a:extLst>
          </p:cNvPr>
          <p:cNvSpPr txBox="1"/>
          <p:nvPr/>
        </p:nvSpPr>
        <p:spPr>
          <a:xfrm>
            <a:off x="617422" y="129461"/>
            <a:ext cx="234992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6" dirty="0">
                <a:latin typeface="Arial" panose="020B0604020202020204" pitchFamily="34" charset="0"/>
                <a:cs typeface="Arial" panose="020B0604020202020204" pitchFamily="34" charset="0"/>
              </a:rPr>
              <a:t>Student ID</a:t>
            </a:r>
            <a:endParaRPr lang="en-GB" sz="21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289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623</TotalTime>
  <Words>689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Kayode Adeoye</dc:creator>
  <cp:lastModifiedBy>OLUKAYODE ADEOYE</cp:lastModifiedBy>
  <cp:revision>36</cp:revision>
  <dcterms:created xsi:type="dcterms:W3CDTF">2026-05-05T04:17:11Z</dcterms:created>
  <dcterms:modified xsi:type="dcterms:W3CDTF">2026-06-09T09:01:16Z</dcterms:modified>
</cp:coreProperties>
</file>